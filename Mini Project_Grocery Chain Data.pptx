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049" autoAdjust="0"/>
  </p:normalViewPr>
  <p:slideViewPr>
    <p:cSldViewPr snapToGrid="0">
      <p:cViewPr varScale="1">
        <p:scale>
          <a:sx n="58" d="100"/>
          <a:sy n="58" d="100"/>
        </p:scale>
        <p:origin x="9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F153DD-DF7C-470B-AB7B-0AB70C38028F}"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59DC1D-6DC3-43A3-B11C-778DDF2749BA}" type="slidenum">
              <a:rPr lang="en-US" smtClean="0"/>
              <a:t>‹#›</a:t>
            </a:fld>
            <a:endParaRPr lang="en-US"/>
          </a:p>
        </p:txBody>
      </p:sp>
    </p:spTree>
    <p:extLst>
      <p:ext uri="{BB962C8B-B14F-4D97-AF65-F5344CB8AC3E}">
        <p14:creationId xmlns:p14="http://schemas.microsoft.com/office/powerpoint/2010/main" val="1499968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59DC1D-6DC3-43A3-B11C-778DDF2749BA}" type="slidenum">
              <a:rPr lang="en-US" smtClean="0"/>
              <a:t>7</a:t>
            </a:fld>
            <a:endParaRPr lang="en-US"/>
          </a:p>
        </p:txBody>
      </p:sp>
    </p:spTree>
    <p:extLst>
      <p:ext uri="{BB962C8B-B14F-4D97-AF65-F5344CB8AC3E}">
        <p14:creationId xmlns:p14="http://schemas.microsoft.com/office/powerpoint/2010/main" val="2947390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4281282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2550251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119746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050598-1394-4B96-B6CB-AE6BE3478CE6}"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1359137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050598-1394-4B96-B6CB-AE6BE3478CE6}"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891667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050598-1394-4B96-B6CB-AE6BE3478CE6}"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2910492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050598-1394-4B96-B6CB-AE6BE3478CE6}"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376641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050598-1394-4B96-B6CB-AE6BE3478CE6}"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2269607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050598-1394-4B96-B6CB-AE6BE3478CE6}"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2743957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2742979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03122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522809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00214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8124711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3650866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050598-1394-4B96-B6CB-AE6BE3478CE6}"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9A368E-479F-400C-8415-D4A45341A70A}" type="slidenum">
              <a:rPr lang="en-US" smtClean="0"/>
              <a:t>‹#›</a:t>
            </a:fld>
            <a:endParaRPr lang="en-US"/>
          </a:p>
        </p:txBody>
      </p:sp>
    </p:spTree>
    <p:extLst>
      <p:ext uri="{BB962C8B-B14F-4D97-AF65-F5344CB8AC3E}">
        <p14:creationId xmlns:p14="http://schemas.microsoft.com/office/powerpoint/2010/main" val="3862049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B050598-1394-4B96-B6CB-AE6BE3478CE6}" type="datetimeFigureOut">
              <a:rPr lang="en-US" smtClean="0"/>
              <a:t>3/3/2026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89A368E-479F-400C-8415-D4A45341A70A}" type="slidenum">
              <a:rPr lang="en-US" smtClean="0"/>
              <a:t>‹#›</a:t>
            </a:fld>
            <a:endParaRPr lang="en-US"/>
          </a:p>
        </p:txBody>
      </p:sp>
    </p:spTree>
    <p:extLst>
      <p:ext uri="{BB962C8B-B14F-4D97-AF65-F5344CB8AC3E}">
        <p14:creationId xmlns:p14="http://schemas.microsoft.com/office/powerpoint/2010/main" val="42382711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B98CE-65E6-F7BA-15C5-57118DE826EA}"/>
              </a:ext>
            </a:extLst>
          </p:cNvPr>
          <p:cNvSpPr>
            <a:spLocks noGrp="1"/>
          </p:cNvSpPr>
          <p:nvPr>
            <p:ph type="ctrTitle"/>
          </p:nvPr>
        </p:nvSpPr>
        <p:spPr>
          <a:xfrm>
            <a:off x="462707" y="2102859"/>
            <a:ext cx="9606709" cy="2526836"/>
          </a:xfrm>
        </p:spPr>
        <p:txBody>
          <a:bodyPr/>
          <a:lstStyle/>
          <a:p>
            <a:pPr algn="ctr"/>
            <a:r>
              <a:rPr lang="en-US" sz="4800" dirty="0">
                <a:solidFill>
                  <a:schemeClr val="accent1">
                    <a:lumMod val="75000"/>
                    <a:lumOff val="25000"/>
                  </a:schemeClr>
                </a:solidFill>
                <a:latin typeface="Arial Black" panose="020B0A04020102020204" pitchFamily="34" charset="0"/>
              </a:rPr>
              <a:t>Grocery Sales Data Analysis Using Excel and Power BI</a:t>
            </a:r>
          </a:p>
        </p:txBody>
      </p:sp>
      <p:sp>
        <p:nvSpPr>
          <p:cNvPr id="3" name="Subtitle 2">
            <a:extLst>
              <a:ext uri="{FF2B5EF4-FFF2-40B4-BE49-F238E27FC236}">
                <a16:creationId xmlns:a16="http://schemas.microsoft.com/office/drawing/2014/main" id="{685B8877-4C4E-E99F-8E12-0C21FF731F09}"/>
              </a:ext>
            </a:extLst>
          </p:cNvPr>
          <p:cNvSpPr>
            <a:spLocks noGrp="1"/>
          </p:cNvSpPr>
          <p:nvPr>
            <p:ph type="subTitle" idx="1"/>
          </p:nvPr>
        </p:nvSpPr>
        <p:spPr>
          <a:xfrm>
            <a:off x="1865691" y="466807"/>
            <a:ext cx="7766936" cy="833184"/>
          </a:xfrm>
        </p:spPr>
        <p:txBody>
          <a:bodyPr>
            <a:normAutofit/>
          </a:bodyPr>
          <a:lstStyle/>
          <a:p>
            <a:pPr algn="ctr"/>
            <a:r>
              <a:rPr lang="en-US" sz="4000" b="1" u="sng" dirty="0">
                <a:solidFill>
                  <a:schemeClr val="bg1">
                    <a:lumMod val="50000"/>
                  </a:schemeClr>
                </a:solidFill>
                <a:latin typeface="Arial Black" panose="020B0A04020102020204" pitchFamily="34" charset="0"/>
              </a:rPr>
              <a:t>Mini Project</a:t>
            </a:r>
          </a:p>
        </p:txBody>
      </p:sp>
      <p:sp>
        <p:nvSpPr>
          <p:cNvPr id="4" name="TextBox 3">
            <a:extLst>
              <a:ext uri="{FF2B5EF4-FFF2-40B4-BE49-F238E27FC236}">
                <a16:creationId xmlns:a16="http://schemas.microsoft.com/office/drawing/2014/main" id="{C2A983F0-8BF2-BDAD-C6F3-B1734FD7B6C6}"/>
              </a:ext>
            </a:extLst>
          </p:cNvPr>
          <p:cNvSpPr txBox="1"/>
          <p:nvPr/>
        </p:nvSpPr>
        <p:spPr>
          <a:xfrm>
            <a:off x="5749159" y="5639535"/>
            <a:ext cx="3605049" cy="461665"/>
          </a:xfrm>
          <a:prstGeom prst="rect">
            <a:avLst/>
          </a:prstGeom>
          <a:noFill/>
        </p:spPr>
        <p:txBody>
          <a:bodyPr wrap="square" rtlCol="0">
            <a:spAutoFit/>
          </a:bodyPr>
          <a:lstStyle/>
          <a:p>
            <a:pPr algn="r"/>
            <a:r>
              <a:rPr lang="en-US" sz="2400" dirty="0" err="1">
                <a:solidFill>
                  <a:schemeClr val="bg1">
                    <a:lumMod val="50000"/>
                  </a:schemeClr>
                </a:solidFill>
              </a:rPr>
              <a:t>Lissmariya</a:t>
            </a:r>
            <a:r>
              <a:rPr lang="en-US" sz="2400" dirty="0">
                <a:solidFill>
                  <a:schemeClr val="bg1">
                    <a:lumMod val="50000"/>
                  </a:schemeClr>
                </a:solidFill>
              </a:rPr>
              <a:t> Joy</a:t>
            </a:r>
          </a:p>
        </p:txBody>
      </p:sp>
    </p:spTree>
    <p:extLst>
      <p:ext uri="{BB962C8B-B14F-4D97-AF65-F5344CB8AC3E}">
        <p14:creationId xmlns:p14="http://schemas.microsoft.com/office/powerpoint/2010/main" val="2756867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EEC855-ABDE-6227-5419-C3331BC290FE}"/>
              </a:ext>
            </a:extLst>
          </p:cNvPr>
          <p:cNvSpPr>
            <a:spLocks noGrp="1"/>
          </p:cNvSpPr>
          <p:nvPr>
            <p:ph idx="1"/>
          </p:nvPr>
        </p:nvSpPr>
        <p:spPr>
          <a:xfrm>
            <a:off x="882869" y="564139"/>
            <a:ext cx="8975834" cy="1938991"/>
          </a:xfrm>
        </p:spPr>
        <p:txBody>
          <a:bodyPr>
            <a:normAutofit lnSpcReduction="10000"/>
          </a:bodyPr>
          <a:lstStyle/>
          <a:p>
            <a:pPr marL="0" indent="0" algn="just">
              <a:lnSpc>
                <a:spcPct val="110000"/>
              </a:lnSpc>
              <a:spcBef>
                <a:spcPts val="1200"/>
              </a:spcBef>
              <a:buNone/>
            </a:pPr>
            <a:r>
              <a:rPr lang="en-US" sz="2800" u="sng" dirty="0">
                <a:solidFill>
                  <a:schemeClr val="accent1"/>
                </a:solidFill>
                <a:latin typeface="Arial Black" panose="020B0A04020102020204" pitchFamily="34" charset="0"/>
              </a:rPr>
              <a:t>Introduction:</a:t>
            </a:r>
            <a:endParaRPr lang="en-US" sz="2800" dirty="0">
              <a:solidFill>
                <a:schemeClr val="accent1"/>
              </a:solidFill>
              <a:latin typeface="Arial Black" panose="020B0A04020102020204" pitchFamily="34" charset="0"/>
              <a:cs typeface="Arial" panose="020B0604020202020204" pitchFamily="34" charset="0"/>
            </a:endParaRPr>
          </a:p>
          <a:p>
            <a:pPr marL="0" indent="0" algn="just">
              <a:lnSpc>
                <a:spcPct val="110000"/>
              </a:lnSpc>
              <a:spcBef>
                <a:spcPts val="1200"/>
              </a:spcBef>
              <a:buNone/>
            </a:pPr>
            <a:r>
              <a:rPr lang="en-US" sz="2000" dirty="0">
                <a:solidFill>
                  <a:schemeClr val="accent1"/>
                </a:solidFill>
                <a:latin typeface="Arial" panose="020B0604020202020204" pitchFamily="34" charset="0"/>
                <a:cs typeface="Arial" panose="020B0604020202020204" pitchFamily="34" charset="0"/>
              </a:rPr>
              <a:t>This project focuses on analyzing grocery chain sales data using Excel and Power BI. The primary objective is to evaluate sales trends, understand customer behavior, and assess product performance by developing a structured data model and designing an interactive dashboard.</a:t>
            </a:r>
          </a:p>
          <a:p>
            <a:pPr marL="0" indent="0" algn="just">
              <a:buNone/>
            </a:pPr>
            <a:endParaRPr lang="en-US" sz="2000" dirty="0">
              <a:solidFill>
                <a:schemeClr val="accent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57A675B-5E62-BAEB-F8E0-D36FAC5FD5C3}"/>
              </a:ext>
            </a:extLst>
          </p:cNvPr>
          <p:cNvSpPr txBox="1"/>
          <p:nvPr/>
        </p:nvSpPr>
        <p:spPr>
          <a:xfrm>
            <a:off x="882869" y="2527465"/>
            <a:ext cx="8975834" cy="2523768"/>
          </a:xfrm>
          <a:prstGeom prst="rect">
            <a:avLst/>
          </a:prstGeom>
          <a:noFill/>
        </p:spPr>
        <p:txBody>
          <a:bodyPr wrap="square" rtlCol="0">
            <a:spAutoFit/>
          </a:bodyPr>
          <a:lstStyle/>
          <a:p>
            <a:pPr algn="just">
              <a:spcBef>
                <a:spcPts val="1200"/>
              </a:spcBef>
            </a:pPr>
            <a:r>
              <a:rPr lang="en-US" sz="2800" u="sng" dirty="0">
                <a:solidFill>
                  <a:schemeClr val="accent1"/>
                </a:solidFill>
                <a:latin typeface="Arial Black" panose="020B0A04020102020204" pitchFamily="34" charset="0"/>
              </a:rPr>
              <a:t>Problem Statement:</a:t>
            </a:r>
            <a:endParaRPr lang="en-US" sz="2800" dirty="0">
              <a:solidFill>
                <a:schemeClr val="accent1"/>
              </a:solidFill>
              <a:latin typeface="Arial Black" panose="020B0A04020102020204" pitchFamily="34" charset="0"/>
              <a:cs typeface="Arial" panose="020B0604020202020204" pitchFamily="34" charset="0"/>
            </a:endParaRPr>
          </a:p>
          <a:p>
            <a:pPr algn="just">
              <a:spcBef>
                <a:spcPts val="1200"/>
              </a:spcBef>
            </a:pPr>
            <a:r>
              <a:rPr lang="en-US" sz="2000" dirty="0">
                <a:solidFill>
                  <a:schemeClr val="accent1"/>
                </a:solidFill>
                <a:latin typeface="Arial" panose="020B0604020202020204" pitchFamily="34" charset="0"/>
                <a:cs typeface="Arial" panose="020B0604020202020204" pitchFamily="34" charset="0"/>
              </a:rPr>
              <a:t>The original grocery chain sales data is in an uncleaned CSV file with missing values and inconsistent data, making it difficult to analyze. There is no proper reporting system to understand sales performance and trends. This project cleans the data in Excel and creates a Power BI dashboard to identify top-performing products and stores and understand overall sales patterns and trends</a:t>
            </a:r>
          </a:p>
        </p:txBody>
      </p:sp>
      <p:sp>
        <p:nvSpPr>
          <p:cNvPr id="7" name="TextBox 6">
            <a:extLst>
              <a:ext uri="{FF2B5EF4-FFF2-40B4-BE49-F238E27FC236}">
                <a16:creationId xmlns:a16="http://schemas.microsoft.com/office/drawing/2014/main" id="{4EE11577-5BB6-83D6-102C-24EFEE8ED48A}"/>
              </a:ext>
            </a:extLst>
          </p:cNvPr>
          <p:cNvSpPr txBox="1"/>
          <p:nvPr/>
        </p:nvSpPr>
        <p:spPr>
          <a:xfrm>
            <a:off x="882870" y="5075568"/>
            <a:ext cx="8975833" cy="1231106"/>
          </a:xfrm>
          <a:prstGeom prst="rect">
            <a:avLst/>
          </a:prstGeom>
          <a:noFill/>
        </p:spPr>
        <p:txBody>
          <a:bodyPr wrap="square" rtlCol="0">
            <a:spAutoFit/>
          </a:bodyPr>
          <a:lstStyle/>
          <a:p>
            <a:pPr>
              <a:spcBef>
                <a:spcPts val="1200"/>
              </a:spcBef>
            </a:pPr>
            <a:r>
              <a:rPr lang="en-US" sz="2800" u="sng" dirty="0">
                <a:solidFill>
                  <a:schemeClr val="accent1"/>
                </a:solidFill>
                <a:latin typeface="Arial Black" panose="020B0A04020102020204" pitchFamily="34" charset="0"/>
              </a:rPr>
              <a:t>Dataset Description:</a:t>
            </a:r>
            <a:endParaRPr lang="en-US" dirty="0">
              <a:solidFill>
                <a:schemeClr val="accent1"/>
              </a:solidFill>
              <a:latin typeface="Arial" panose="020B0604020202020204" pitchFamily="34" charset="0"/>
              <a:cs typeface="Arial" panose="020B0604020202020204" pitchFamily="34" charset="0"/>
            </a:endParaRPr>
          </a:p>
          <a:p>
            <a:pPr>
              <a:spcBef>
                <a:spcPts val="1200"/>
              </a:spcBef>
            </a:pPr>
            <a:r>
              <a:rPr lang="en-US" dirty="0">
                <a:solidFill>
                  <a:schemeClr val="accent1"/>
                </a:solidFill>
                <a:latin typeface="Arial" panose="020B0604020202020204" pitchFamily="34" charset="0"/>
                <a:cs typeface="Arial" panose="020B0604020202020204" pitchFamily="34" charset="0"/>
              </a:rPr>
              <a:t>The original data set consist of 11 rows and 1980 rows.</a:t>
            </a:r>
          </a:p>
          <a:p>
            <a:endParaRPr lang="en-US" dirty="0"/>
          </a:p>
        </p:txBody>
      </p:sp>
    </p:spTree>
    <p:extLst>
      <p:ext uri="{BB962C8B-B14F-4D97-AF65-F5344CB8AC3E}">
        <p14:creationId xmlns:p14="http://schemas.microsoft.com/office/powerpoint/2010/main" val="1760192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3A2B4-6958-EC20-46E7-FEEEFD2F940B}"/>
              </a:ext>
            </a:extLst>
          </p:cNvPr>
          <p:cNvSpPr>
            <a:spLocks noGrp="1"/>
          </p:cNvSpPr>
          <p:nvPr>
            <p:ph type="title"/>
          </p:nvPr>
        </p:nvSpPr>
        <p:spPr>
          <a:xfrm>
            <a:off x="677333" y="609601"/>
            <a:ext cx="4945702" cy="572812"/>
          </a:xfrm>
        </p:spPr>
        <p:txBody>
          <a:bodyPr>
            <a:noAutofit/>
          </a:bodyPr>
          <a:lstStyle/>
          <a:p>
            <a:br>
              <a:rPr lang="en-US" sz="3200" u="sng" dirty="0">
                <a:latin typeface="Arial Black" panose="020B0A04020102020204" pitchFamily="34" charset="0"/>
              </a:rPr>
            </a:br>
            <a:br>
              <a:rPr lang="en-US" sz="3200" u="sng" dirty="0">
                <a:latin typeface="Arial Black" panose="020B0A04020102020204" pitchFamily="34" charset="0"/>
              </a:rPr>
            </a:br>
            <a:endParaRPr lang="en-US" sz="3200" u="sng" dirty="0">
              <a:latin typeface="Arial Black" panose="020B0A04020102020204" pitchFamily="34" charset="0"/>
            </a:endParaRPr>
          </a:p>
        </p:txBody>
      </p:sp>
      <p:sp>
        <p:nvSpPr>
          <p:cNvPr id="4" name="TextBox 3">
            <a:extLst>
              <a:ext uri="{FF2B5EF4-FFF2-40B4-BE49-F238E27FC236}">
                <a16:creationId xmlns:a16="http://schemas.microsoft.com/office/drawing/2014/main" id="{638DBE9A-C890-07A9-E7FC-D0AC9CBFA47B}"/>
              </a:ext>
            </a:extLst>
          </p:cNvPr>
          <p:cNvSpPr txBox="1"/>
          <p:nvPr/>
        </p:nvSpPr>
        <p:spPr>
          <a:xfrm>
            <a:off x="677333" y="609601"/>
            <a:ext cx="9259881" cy="5616922"/>
          </a:xfrm>
          <a:prstGeom prst="rect">
            <a:avLst/>
          </a:prstGeom>
          <a:noFill/>
        </p:spPr>
        <p:txBody>
          <a:bodyPr wrap="square" rtlCol="0">
            <a:spAutoFit/>
          </a:bodyPr>
          <a:lstStyle/>
          <a:p>
            <a:r>
              <a:rPr lang="en-US" sz="2800" u="sng" dirty="0">
                <a:solidFill>
                  <a:schemeClr val="accent1"/>
                </a:solidFill>
                <a:latin typeface="Arial Black" panose="020B0A04020102020204" pitchFamily="34" charset="0"/>
              </a:rPr>
              <a:t>Data Cleaning and Preparation Steps:</a:t>
            </a:r>
          </a:p>
          <a:p>
            <a:pPr marL="342900" indent="-342900">
              <a:buFont typeface="+mj-lt"/>
              <a:buAutoNum type="arabicPeriod"/>
            </a:pPr>
            <a:endParaRPr lang="en-US" dirty="0"/>
          </a:p>
          <a:p>
            <a:pPr marL="3600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Loaded the dataset into Excel Power Query.</a:t>
            </a:r>
          </a:p>
          <a:p>
            <a:pPr marL="3600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Corrected and standardized data types for all columns.</a:t>
            </a:r>
          </a:p>
          <a:p>
            <a:pPr marL="3600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Checked for duplicate records; no duplicates were found.</a:t>
            </a:r>
          </a:p>
          <a:p>
            <a:pPr marL="3600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Identified missing values in the “Store Name” column and replaced null values with the most frequent store name.</a:t>
            </a:r>
          </a:p>
          <a:p>
            <a:pPr marL="3600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Corrected mismatches between the “Aisle” and “Product Name” columns by mapping products to the appropriate aisle using conditional logic.</a:t>
            </a:r>
          </a:p>
          <a:p>
            <a:pPr marL="3600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Identified inconsistencies in the “Discount Amount” column that were affecting the final amount calculation. </a:t>
            </a:r>
          </a:p>
          <a:p>
            <a:pPr marL="3600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Removed the incorrect discount and final amount column and created new calculated columns: “Discount Percentage”, “Discount Amount” and Final Amount - using conditional statements and necessary formulas to ensure accuracy.</a:t>
            </a:r>
          </a:p>
          <a:p>
            <a:endParaRPr lang="en-US" dirty="0"/>
          </a:p>
        </p:txBody>
      </p:sp>
    </p:spTree>
    <p:extLst>
      <p:ext uri="{BB962C8B-B14F-4D97-AF65-F5344CB8AC3E}">
        <p14:creationId xmlns:p14="http://schemas.microsoft.com/office/powerpoint/2010/main" val="3629559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BB6030-2158-5E96-36B5-699F3FA0B877}"/>
              </a:ext>
            </a:extLst>
          </p:cNvPr>
          <p:cNvSpPr>
            <a:spLocks noGrp="1"/>
          </p:cNvSpPr>
          <p:nvPr>
            <p:ph idx="1"/>
          </p:nvPr>
        </p:nvSpPr>
        <p:spPr>
          <a:xfrm>
            <a:off x="677334" y="683048"/>
            <a:ext cx="8929374" cy="2963536"/>
          </a:xfrm>
        </p:spPr>
        <p:txBody>
          <a:bodyPr/>
          <a:lstStyle/>
          <a:p>
            <a:pPr marL="0" indent="0">
              <a:buNone/>
            </a:pPr>
            <a:r>
              <a:rPr lang="en-US" sz="2800" u="sng" dirty="0">
                <a:solidFill>
                  <a:schemeClr val="accent1"/>
                </a:solidFill>
                <a:latin typeface="Arial Black" panose="020B0A04020102020204" pitchFamily="34" charset="0"/>
              </a:rPr>
              <a:t>Data Cleaning and Preparation Steps (Continue):</a:t>
            </a:r>
          </a:p>
          <a:p>
            <a:pPr>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Added new columns - Day of Week Name, Weekend (Yes/No), Month Name, Quarter, Year.</a:t>
            </a:r>
          </a:p>
          <a:p>
            <a:pPr>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Created a conditional column “Customer Loyalty Rating” based on loyalty points.</a:t>
            </a:r>
          </a:p>
          <a:p>
            <a:pPr marL="0" indent="0">
              <a:buNone/>
            </a:pPr>
            <a:r>
              <a:rPr lang="en-US" sz="2000" b="1" dirty="0">
                <a:solidFill>
                  <a:schemeClr val="accent1"/>
                </a:solidFill>
                <a:latin typeface="Arial" panose="020B0604020202020204" pitchFamily="34" charset="0"/>
                <a:cs typeface="Arial" panose="020B0604020202020204" pitchFamily="34" charset="0"/>
              </a:rPr>
              <a:t>Final cleaned dataset consists of 18 columns and 1,980 rows.</a:t>
            </a:r>
            <a:endParaRPr lang="en-US" b="1" dirty="0"/>
          </a:p>
        </p:txBody>
      </p:sp>
      <p:sp>
        <p:nvSpPr>
          <p:cNvPr id="4" name="TextBox 3">
            <a:extLst>
              <a:ext uri="{FF2B5EF4-FFF2-40B4-BE49-F238E27FC236}">
                <a16:creationId xmlns:a16="http://schemas.microsoft.com/office/drawing/2014/main" id="{B17B2CD3-856A-EF6A-09DD-6C508E719093}"/>
              </a:ext>
            </a:extLst>
          </p:cNvPr>
          <p:cNvSpPr txBox="1"/>
          <p:nvPr/>
        </p:nvSpPr>
        <p:spPr>
          <a:xfrm>
            <a:off x="677334" y="3646584"/>
            <a:ext cx="9342303" cy="3139321"/>
          </a:xfrm>
          <a:prstGeom prst="rect">
            <a:avLst/>
          </a:prstGeom>
          <a:noFill/>
        </p:spPr>
        <p:txBody>
          <a:bodyPr wrap="square" rtlCol="0">
            <a:spAutoFit/>
          </a:bodyPr>
          <a:lstStyle/>
          <a:p>
            <a:pPr>
              <a:spcBef>
                <a:spcPts val="1200"/>
              </a:spcBef>
            </a:pPr>
            <a:r>
              <a:rPr lang="en-US" sz="2800" u="sng" dirty="0">
                <a:solidFill>
                  <a:schemeClr val="accent1"/>
                </a:solidFill>
                <a:latin typeface="Arial Black" panose="020B0A04020102020204" pitchFamily="34" charset="0"/>
              </a:rPr>
              <a:t>Data Modeling:</a:t>
            </a:r>
          </a:p>
          <a:p>
            <a:pPr marL="285750" indent="-285750">
              <a:spcBef>
                <a:spcPts val="12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Loaded the cleaned dataset into Power BI.</a:t>
            </a:r>
          </a:p>
          <a:p>
            <a:pPr marL="285750" indent="-285750">
              <a:spcBef>
                <a:spcPts val="12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Created two tables: Date Table – Contains unique dates along with related details (day, month, quarter, year, etc.).Customer Table – Contains unique customer IDs along with loyalty point details.</a:t>
            </a:r>
          </a:p>
          <a:p>
            <a:pPr marL="285750" indent="-285750">
              <a:spcBef>
                <a:spcPts val="12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Built a Star Schema model by establishing relationships between: Grocery Chain Data (Fact Table), Date Table (Dimension Table) and Customer Table (Dimension Table).</a:t>
            </a:r>
          </a:p>
        </p:txBody>
      </p:sp>
    </p:spTree>
    <p:extLst>
      <p:ext uri="{BB962C8B-B14F-4D97-AF65-F5344CB8AC3E}">
        <p14:creationId xmlns:p14="http://schemas.microsoft.com/office/powerpoint/2010/main" val="1007415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67E3B7-F724-1F99-5C91-C8FED8D6573B}"/>
              </a:ext>
            </a:extLst>
          </p:cNvPr>
          <p:cNvSpPr txBox="1"/>
          <p:nvPr/>
        </p:nvSpPr>
        <p:spPr>
          <a:xfrm>
            <a:off x="638977" y="531563"/>
            <a:ext cx="9011799" cy="5386090"/>
          </a:xfrm>
          <a:prstGeom prst="rect">
            <a:avLst/>
          </a:prstGeom>
          <a:noFill/>
        </p:spPr>
        <p:txBody>
          <a:bodyPr wrap="square" rtlCol="0">
            <a:spAutoFit/>
          </a:bodyPr>
          <a:lstStyle/>
          <a:p>
            <a:pPr>
              <a:spcBef>
                <a:spcPts val="1200"/>
              </a:spcBef>
            </a:pPr>
            <a:r>
              <a:rPr lang="en-US" sz="2800" u="sng" dirty="0">
                <a:solidFill>
                  <a:schemeClr val="accent1"/>
                </a:solidFill>
                <a:latin typeface="Arial Black" panose="020B0A04020102020204" pitchFamily="34" charset="0"/>
              </a:rPr>
              <a:t>Dashboard Overview:</a:t>
            </a:r>
          </a:p>
          <a:p>
            <a:pPr>
              <a:spcBef>
                <a:spcPts val="1200"/>
              </a:spcBef>
            </a:pPr>
            <a:endParaRPr lang="en-US" dirty="0"/>
          </a:p>
          <a:p>
            <a:pPr marL="285750" indent="-285750" algn="just">
              <a:spcBef>
                <a:spcPts val="1200"/>
              </a:spcBef>
              <a:buFont typeface="Wingdings" panose="05000000000000000000" pitchFamily="2" charset="2"/>
              <a:buChar char="Ø"/>
            </a:pPr>
            <a:r>
              <a:rPr lang="en-US" dirty="0">
                <a:solidFill>
                  <a:schemeClr val="accent1"/>
                </a:solidFill>
              </a:rPr>
              <a:t>Added card visuals for Total Sales, Total Customers, Total Discount and Average Discount %.</a:t>
            </a:r>
          </a:p>
          <a:p>
            <a:pPr marL="285750" indent="-285750" algn="just">
              <a:spcBef>
                <a:spcPts val="1200"/>
              </a:spcBef>
              <a:buFont typeface="Wingdings" panose="05000000000000000000" pitchFamily="2" charset="2"/>
              <a:buChar char="Ø"/>
            </a:pPr>
            <a:r>
              <a:rPr lang="en-US" dirty="0">
                <a:solidFill>
                  <a:schemeClr val="accent1"/>
                </a:solidFill>
              </a:rPr>
              <a:t>Created a line chart to analyze total sales over time.</a:t>
            </a:r>
          </a:p>
          <a:p>
            <a:pPr marL="285750" indent="-285750" algn="just">
              <a:spcBef>
                <a:spcPts val="1200"/>
              </a:spcBef>
              <a:buFont typeface="Wingdings" panose="05000000000000000000" pitchFamily="2" charset="2"/>
              <a:buChar char="Ø"/>
            </a:pPr>
            <a:r>
              <a:rPr lang="en-US" dirty="0">
                <a:solidFill>
                  <a:schemeClr val="accent1"/>
                </a:solidFill>
              </a:rPr>
              <a:t>Developed a clustered column chart to compare weekday and weekend trends across stores.</a:t>
            </a:r>
          </a:p>
          <a:p>
            <a:pPr marL="285750" indent="-285750" algn="just">
              <a:spcBef>
                <a:spcPts val="1200"/>
              </a:spcBef>
              <a:buFont typeface="Wingdings" panose="05000000000000000000" pitchFamily="2" charset="2"/>
              <a:buChar char="Ø"/>
            </a:pPr>
            <a:r>
              <a:rPr lang="en-US" dirty="0">
                <a:solidFill>
                  <a:schemeClr val="accent1"/>
                </a:solidFill>
              </a:rPr>
              <a:t>Used a pie chart to show customer distribution by loyalty rating.</a:t>
            </a:r>
          </a:p>
          <a:p>
            <a:pPr marL="285750" indent="-285750" algn="just">
              <a:spcBef>
                <a:spcPts val="1200"/>
              </a:spcBef>
              <a:buFont typeface="Wingdings" panose="05000000000000000000" pitchFamily="2" charset="2"/>
              <a:buChar char="Ø"/>
            </a:pPr>
            <a:r>
              <a:rPr lang="en-US" dirty="0">
                <a:solidFill>
                  <a:schemeClr val="accent1"/>
                </a:solidFill>
              </a:rPr>
              <a:t>Added a donut chart to display store-wise customer count.</a:t>
            </a:r>
          </a:p>
          <a:p>
            <a:pPr marL="285750" indent="-285750" algn="just">
              <a:spcBef>
                <a:spcPts val="1200"/>
              </a:spcBef>
              <a:buFont typeface="Wingdings" panose="05000000000000000000" pitchFamily="2" charset="2"/>
              <a:buChar char="Ø"/>
            </a:pPr>
            <a:r>
              <a:rPr lang="en-US" dirty="0">
                <a:solidFill>
                  <a:schemeClr val="accent1"/>
                </a:solidFill>
              </a:rPr>
              <a:t>Built a funnel chart to visualize total sales across stores.</a:t>
            </a:r>
          </a:p>
          <a:p>
            <a:pPr marL="285750" indent="-285750" algn="just">
              <a:spcBef>
                <a:spcPts val="1200"/>
              </a:spcBef>
              <a:buFont typeface="Wingdings" panose="05000000000000000000" pitchFamily="2" charset="2"/>
              <a:buChar char="Ø"/>
            </a:pPr>
            <a:r>
              <a:rPr lang="en-US" dirty="0">
                <a:solidFill>
                  <a:schemeClr val="accent1"/>
                </a:solidFill>
              </a:rPr>
              <a:t>Created a matrix to summarize yearly sales by store.</a:t>
            </a:r>
          </a:p>
          <a:p>
            <a:pPr marL="285750" indent="-285750" algn="just">
              <a:spcBef>
                <a:spcPts val="1200"/>
              </a:spcBef>
              <a:buFont typeface="Wingdings" panose="05000000000000000000" pitchFamily="2" charset="2"/>
              <a:buChar char="Ø"/>
            </a:pPr>
            <a:r>
              <a:rPr lang="en-US" dirty="0">
                <a:solidFill>
                  <a:schemeClr val="accent1"/>
                </a:solidFill>
              </a:rPr>
              <a:t>Added a bar chart to analyze sales by aisle.</a:t>
            </a:r>
          </a:p>
          <a:p>
            <a:pPr marL="285750" indent="-285750" algn="just">
              <a:spcBef>
                <a:spcPts val="1200"/>
              </a:spcBef>
              <a:buFont typeface="Wingdings" panose="05000000000000000000" pitchFamily="2" charset="2"/>
              <a:buChar char="Ø"/>
            </a:pPr>
            <a:r>
              <a:rPr lang="en-US" dirty="0">
                <a:solidFill>
                  <a:schemeClr val="accent1"/>
                </a:solidFill>
              </a:rPr>
              <a:t>Designed a scatter chart to examine product-wise average discount percentage.</a:t>
            </a:r>
          </a:p>
        </p:txBody>
      </p:sp>
    </p:spTree>
    <p:extLst>
      <p:ext uri="{BB962C8B-B14F-4D97-AF65-F5344CB8AC3E}">
        <p14:creationId xmlns:p14="http://schemas.microsoft.com/office/powerpoint/2010/main" val="2882385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57F8E1-0897-0968-1B83-3316125C0C4B}"/>
              </a:ext>
            </a:extLst>
          </p:cNvPr>
          <p:cNvSpPr txBox="1"/>
          <p:nvPr/>
        </p:nvSpPr>
        <p:spPr>
          <a:xfrm>
            <a:off x="605928" y="619699"/>
            <a:ext cx="8945696" cy="5139869"/>
          </a:xfrm>
          <a:prstGeom prst="rect">
            <a:avLst/>
          </a:prstGeom>
          <a:noFill/>
        </p:spPr>
        <p:txBody>
          <a:bodyPr wrap="square" rtlCol="0">
            <a:spAutoFit/>
          </a:bodyPr>
          <a:lstStyle/>
          <a:p>
            <a:pPr>
              <a:spcBef>
                <a:spcPts val="1200"/>
              </a:spcBef>
            </a:pPr>
            <a:r>
              <a:rPr lang="en-US" sz="2800" u="sng" dirty="0">
                <a:solidFill>
                  <a:schemeClr val="accent1"/>
                </a:solidFill>
                <a:latin typeface="Arial Black" panose="020B0A04020102020204" pitchFamily="34" charset="0"/>
              </a:rPr>
              <a:t>Dashboard Overview (Continue):</a:t>
            </a:r>
          </a:p>
          <a:p>
            <a:pPr marL="285750" indent="-285750" algn="just">
              <a:spcBef>
                <a:spcPts val="12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Designed a scatter chart to examine product-wise average discount percentage.</a:t>
            </a:r>
          </a:p>
          <a:p>
            <a:pPr marL="285750" indent="-285750" algn="just">
              <a:spcBef>
                <a:spcPts val="12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Used a line and column combo chart to compare product-wise total sales and total quantity.</a:t>
            </a:r>
          </a:p>
          <a:p>
            <a:pPr marL="285750" indent="-285750" algn="just">
              <a:spcBef>
                <a:spcPts val="12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Created a clustered column chart to identify year-wise top 5 selling products.</a:t>
            </a:r>
          </a:p>
          <a:p>
            <a:pPr marL="285750" indent="-285750" algn="just">
              <a:spcBef>
                <a:spcPts val="12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Added a clustered bar chart to identify store-wise top 5 selling products.</a:t>
            </a:r>
          </a:p>
          <a:p>
            <a:pPr marL="285750" indent="-285750" algn="just">
              <a:spcBef>
                <a:spcPts val="12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Included two slicers (Year and Store Name) synced across all pages for easy and interactive analysis.</a:t>
            </a:r>
          </a:p>
          <a:p>
            <a:pPr algn="just">
              <a:spcBef>
                <a:spcPts val="1200"/>
              </a:spcBef>
            </a:pPr>
            <a:r>
              <a:rPr lang="en-US" sz="2000" dirty="0">
                <a:solidFill>
                  <a:schemeClr val="accent1"/>
                </a:solidFill>
                <a:latin typeface="Arial" panose="020B0604020202020204" pitchFamily="34" charset="0"/>
                <a:cs typeface="Arial" panose="020B0604020202020204" pitchFamily="34" charset="0"/>
              </a:rPr>
              <a:t>The dashboard provides a complete overview of business performance, summarizing revenue, customer activity, discount impact, and product performance to support quick and data-driven decision-making.</a:t>
            </a:r>
          </a:p>
        </p:txBody>
      </p:sp>
    </p:spTree>
    <p:extLst>
      <p:ext uri="{BB962C8B-B14F-4D97-AF65-F5344CB8AC3E}">
        <p14:creationId xmlns:p14="http://schemas.microsoft.com/office/powerpoint/2010/main" val="1556754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54C116-9785-B984-D1AE-1F83E1F36B8C}"/>
              </a:ext>
            </a:extLst>
          </p:cNvPr>
          <p:cNvSpPr txBox="1"/>
          <p:nvPr/>
        </p:nvSpPr>
        <p:spPr>
          <a:xfrm>
            <a:off x="638977" y="385590"/>
            <a:ext cx="9166036" cy="6063198"/>
          </a:xfrm>
          <a:prstGeom prst="rect">
            <a:avLst/>
          </a:prstGeom>
          <a:noFill/>
        </p:spPr>
        <p:txBody>
          <a:bodyPr wrap="square" rtlCol="0">
            <a:spAutoFit/>
          </a:bodyPr>
          <a:lstStyle/>
          <a:p>
            <a:pPr>
              <a:spcBef>
                <a:spcPts val="600"/>
              </a:spcBef>
            </a:pPr>
            <a:r>
              <a:rPr lang="en-US" sz="2800" u="sng" dirty="0">
                <a:solidFill>
                  <a:schemeClr val="accent1"/>
                </a:solidFill>
                <a:latin typeface="Arial Black" panose="020B0A04020102020204" pitchFamily="34" charset="0"/>
              </a:rPr>
              <a:t>Insights:</a:t>
            </a:r>
          </a:p>
          <a:p>
            <a:pPr marL="3429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Overall sales show moderate fluctuations over time, with no major spikes or drops, indicating stable business performance.</a:t>
            </a:r>
          </a:p>
          <a:p>
            <a:pPr marL="3429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Weekend sales are higher compared to weekday sales, suggesting increased customer activity during weekends.</a:t>
            </a:r>
          </a:p>
          <a:p>
            <a:pPr marL="3429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Premium customers account for 31.5% of the total loyalty rating distribution, representing a significant customer segment.</a:t>
            </a:r>
          </a:p>
          <a:p>
            <a:pPr marL="3429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City Fresh Store has the highest customer footfall, contributing 13.02% of the total customer count.</a:t>
            </a:r>
          </a:p>
          <a:p>
            <a:pPr marL="3429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City Fresh Store generates the highest sales among all stores (100% in the funnel comparison), while Family Food Express records the lowest sales performance (72.4%).</a:t>
            </a:r>
          </a:p>
          <a:p>
            <a:pPr marL="3429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The Produce aisle generates the highest total sales, whereas the Beverages aisle contributes the least.</a:t>
            </a:r>
          </a:p>
          <a:p>
            <a:pPr marL="3429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Tomatoes and Bread show the highest total sales and quantity sold.</a:t>
            </a:r>
          </a:p>
          <a:p>
            <a:pPr marL="342900" indent="-342900" algn="just">
              <a:spcBef>
                <a:spcPts val="600"/>
              </a:spcBef>
              <a:buFont typeface="Wingdings" panose="05000000000000000000" pitchFamily="2" charset="2"/>
              <a:buChar char="Ø"/>
            </a:pPr>
            <a:r>
              <a:rPr lang="en-US" sz="2000" dirty="0">
                <a:solidFill>
                  <a:schemeClr val="accent1"/>
                </a:solidFill>
                <a:latin typeface="Arial" panose="020B0604020202020204" pitchFamily="34" charset="0"/>
                <a:cs typeface="Arial" panose="020B0604020202020204" pitchFamily="34" charset="0"/>
              </a:rPr>
              <a:t>The top-selling products overall are Bread, Chicken Breast, Eggs, Potatoes, and Tomatoes.</a:t>
            </a:r>
          </a:p>
        </p:txBody>
      </p:sp>
    </p:spTree>
    <p:extLst>
      <p:ext uri="{BB962C8B-B14F-4D97-AF65-F5344CB8AC3E}">
        <p14:creationId xmlns:p14="http://schemas.microsoft.com/office/powerpoint/2010/main" val="3067053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1EE8E3-0C11-9EA4-043B-DCF0A0F472B9}"/>
              </a:ext>
            </a:extLst>
          </p:cNvPr>
          <p:cNvSpPr txBox="1"/>
          <p:nvPr/>
        </p:nvSpPr>
        <p:spPr>
          <a:xfrm>
            <a:off x="804231" y="594911"/>
            <a:ext cx="8692309" cy="6186309"/>
          </a:xfrm>
          <a:prstGeom prst="rect">
            <a:avLst/>
          </a:prstGeom>
          <a:noFill/>
        </p:spPr>
        <p:txBody>
          <a:bodyPr wrap="square" rtlCol="0">
            <a:spAutoFit/>
          </a:bodyPr>
          <a:lstStyle/>
          <a:p>
            <a:pPr>
              <a:spcBef>
                <a:spcPts val="1200"/>
              </a:spcBef>
            </a:pPr>
            <a:r>
              <a:rPr lang="en-US" sz="2800" u="sng" dirty="0">
                <a:solidFill>
                  <a:schemeClr val="accent1"/>
                </a:solidFill>
                <a:latin typeface="Arial Black" panose="020B0A04020102020204" pitchFamily="34" charset="0"/>
              </a:rPr>
              <a:t>Recommendations:</a:t>
            </a:r>
          </a:p>
          <a:p>
            <a:pPr marL="285750" indent="-285750">
              <a:spcBef>
                <a:spcPts val="1200"/>
              </a:spcBef>
              <a:buFont typeface="Wingdings" panose="05000000000000000000" pitchFamily="2" charset="2"/>
              <a:buChar char="Ø"/>
            </a:pPr>
            <a:r>
              <a:rPr lang="en-US" sz="2000" b="1" dirty="0">
                <a:solidFill>
                  <a:schemeClr val="accent1"/>
                </a:solidFill>
              </a:rPr>
              <a:t>Increase Weekend Promotions: </a:t>
            </a:r>
            <a:r>
              <a:rPr lang="en-US" sz="2000" dirty="0">
                <a:solidFill>
                  <a:schemeClr val="accent1"/>
                </a:solidFill>
              </a:rPr>
              <a:t>Since weekend sales are higher, introduce special weekend offers, combo deals, and loyalty bonus points to maximize revenue.</a:t>
            </a:r>
          </a:p>
          <a:p>
            <a:pPr marL="285750" indent="-285750">
              <a:spcBef>
                <a:spcPts val="1200"/>
              </a:spcBef>
              <a:buFont typeface="Wingdings" panose="05000000000000000000" pitchFamily="2" charset="2"/>
              <a:buChar char="Ø"/>
            </a:pPr>
            <a:r>
              <a:rPr lang="en-US" sz="2000" b="1" dirty="0">
                <a:solidFill>
                  <a:schemeClr val="accent1"/>
                </a:solidFill>
              </a:rPr>
              <a:t>Strengthen Premium Customer Engagement: </a:t>
            </a:r>
            <a:r>
              <a:rPr lang="en-US" sz="2000" dirty="0">
                <a:solidFill>
                  <a:schemeClr val="accent1"/>
                </a:solidFill>
              </a:rPr>
              <a:t>Premium customers form 31.5% of the loyalty base. Offer exclusive discounts, early access deals, or personalized promotions to retain and grow this high-value segment.</a:t>
            </a:r>
          </a:p>
          <a:p>
            <a:pPr marL="285750" indent="-285750">
              <a:spcBef>
                <a:spcPts val="1200"/>
              </a:spcBef>
              <a:buFont typeface="Wingdings" panose="05000000000000000000" pitchFamily="2" charset="2"/>
              <a:buChar char="Ø"/>
            </a:pPr>
            <a:r>
              <a:rPr lang="en-US" sz="2000" b="1" dirty="0">
                <a:solidFill>
                  <a:schemeClr val="accent1"/>
                </a:solidFill>
              </a:rPr>
              <a:t>Improve Performance of Low-Selling Stores: </a:t>
            </a:r>
            <a:r>
              <a:rPr lang="en-US" sz="2000" dirty="0">
                <a:solidFill>
                  <a:schemeClr val="accent1"/>
                </a:solidFill>
              </a:rPr>
              <a:t>Family Food Express shows lower sales performance. Conduct local promotions, improve product assortment, or analyze customer preferences to boost sales.</a:t>
            </a:r>
          </a:p>
          <a:p>
            <a:pPr marL="285750" indent="-285750">
              <a:spcBef>
                <a:spcPts val="1200"/>
              </a:spcBef>
              <a:buFont typeface="Wingdings" panose="05000000000000000000" pitchFamily="2" charset="2"/>
              <a:buChar char="Ø"/>
            </a:pPr>
            <a:r>
              <a:rPr lang="en-US" sz="2000" b="1" dirty="0">
                <a:solidFill>
                  <a:schemeClr val="accent1"/>
                </a:solidFill>
              </a:rPr>
              <a:t>Leverage High-Performing Stores: </a:t>
            </a:r>
            <a:r>
              <a:rPr lang="en-US" sz="2000" dirty="0">
                <a:solidFill>
                  <a:schemeClr val="accent1"/>
                </a:solidFill>
              </a:rPr>
              <a:t>City Fresh Store performs best in both sales and customer count. Replicate its strategies (pricing, promotions, layout) in other stores.</a:t>
            </a:r>
          </a:p>
          <a:p>
            <a:pPr marL="285750" indent="-285750">
              <a:spcBef>
                <a:spcPts val="1200"/>
              </a:spcBef>
              <a:buFont typeface="Wingdings" panose="05000000000000000000" pitchFamily="2" charset="2"/>
              <a:buChar char="Ø"/>
            </a:pPr>
            <a:r>
              <a:rPr lang="en-US" sz="2000" b="1" dirty="0">
                <a:solidFill>
                  <a:schemeClr val="accent1"/>
                </a:solidFill>
              </a:rPr>
              <a:t>Focus on High-Performing Aisles: </a:t>
            </a:r>
            <a:r>
              <a:rPr lang="en-US" sz="2000" dirty="0">
                <a:solidFill>
                  <a:schemeClr val="accent1"/>
                </a:solidFill>
              </a:rPr>
              <a:t>The Produce aisle generates the highest sales. Ensure consistent stock availability and consider expanding product variety in this category.</a:t>
            </a:r>
          </a:p>
          <a:p>
            <a:endParaRPr lang="en-US" dirty="0"/>
          </a:p>
        </p:txBody>
      </p:sp>
    </p:spTree>
    <p:extLst>
      <p:ext uri="{BB962C8B-B14F-4D97-AF65-F5344CB8AC3E}">
        <p14:creationId xmlns:p14="http://schemas.microsoft.com/office/powerpoint/2010/main" val="501855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BAE6AB-F3AB-9BD9-2B27-7B059DF67931}"/>
              </a:ext>
            </a:extLst>
          </p:cNvPr>
          <p:cNvSpPr txBox="1"/>
          <p:nvPr/>
        </p:nvSpPr>
        <p:spPr>
          <a:xfrm>
            <a:off x="649995" y="738130"/>
            <a:ext cx="8967730" cy="2862322"/>
          </a:xfrm>
          <a:prstGeom prst="rect">
            <a:avLst/>
          </a:prstGeom>
          <a:noFill/>
        </p:spPr>
        <p:txBody>
          <a:bodyPr wrap="square" rtlCol="0">
            <a:spAutoFit/>
          </a:bodyPr>
          <a:lstStyle/>
          <a:p>
            <a:pPr marL="342900" indent="-342900" algn="just">
              <a:spcBef>
                <a:spcPts val="1200"/>
              </a:spcBef>
              <a:buFont typeface="Wingdings" panose="05000000000000000000" pitchFamily="2" charset="2"/>
              <a:buChar char="Ø"/>
            </a:pPr>
            <a:r>
              <a:rPr lang="en-US" sz="2000" b="1" dirty="0">
                <a:solidFill>
                  <a:schemeClr val="accent1"/>
                </a:solidFill>
                <a:latin typeface="Arial" panose="020B0604020202020204" pitchFamily="34" charset="0"/>
                <a:cs typeface="Arial" panose="020B0604020202020204" pitchFamily="34" charset="0"/>
              </a:rPr>
              <a:t>Boost Low-Performing Categories: </a:t>
            </a:r>
            <a:r>
              <a:rPr lang="en-US" sz="2000" dirty="0">
                <a:solidFill>
                  <a:schemeClr val="accent1"/>
                </a:solidFill>
                <a:latin typeface="Arial" panose="020B0604020202020204" pitchFamily="34" charset="0"/>
                <a:cs typeface="Arial" panose="020B0604020202020204" pitchFamily="34" charset="0"/>
              </a:rPr>
              <a:t>Beverages have lower sales. Introduce bundle offers, discounts, or better shelf placement to improve performance.</a:t>
            </a:r>
          </a:p>
          <a:p>
            <a:pPr marL="342900" indent="-342900" algn="just">
              <a:spcBef>
                <a:spcPts val="1200"/>
              </a:spcBef>
              <a:buFont typeface="Wingdings" panose="05000000000000000000" pitchFamily="2" charset="2"/>
              <a:buChar char="Ø"/>
            </a:pPr>
            <a:r>
              <a:rPr lang="en-US" sz="2000" b="1" dirty="0">
                <a:solidFill>
                  <a:schemeClr val="accent1"/>
                </a:solidFill>
                <a:latin typeface="Arial" panose="020B0604020202020204" pitchFamily="34" charset="0"/>
                <a:cs typeface="Arial" panose="020B0604020202020204" pitchFamily="34" charset="0"/>
              </a:rPr>
              <a:t>Maintain Strong Inventory for Top-Selling Products: </a:t>
            </a:r>
            <a:r>
              <a:rPr lang="en-US" sz="2000" dirty="0">
                <a:solidFill>
                  <a:schemeClr val="accent1"/>
                </a:solidFill>
                <a:latin typeface="Arial" panose="020B0604020202020204" pitchFamily="34" charset="0"/>
                <a:cs typeface="Arial" panose="020B0604020202020204" pitchFamily="34" charset="0"/>
              </a:rPr>
              <a:t>Products like Bread, Chicken Breast, Eggs, Potatoes, and Tomatoes should always be well-stocked to avoid lost sales.</a:t>
            </a:r>
          </a:p>
          <a:p>
            <a:pPr marL="342900" indent="-342900" algn="just">
              <a:spcBef>
                <a:spcPts val="1200"/>
              </a:spcBef>
              <a:buFont typeface="Wingdings" panose="05000000000000000000" pitchFamily="2" charset="2"/>
              <a:buChar char="Ø"/>
            </a:pPr>
            <a:r>
              <a:rPr lang="en-US" sz="2000" b="1" dirty="0">
                <a:solidFill>
                  <a:schemeClr val="accent1"/>
                </a:solidFill>
                <a:latin typeface="Arial" panose="020B0604020202020204" pitchFamily="34" charset="0"/>
                <a:cs typeface="Arial" panose="020B0604020202020204" pitchFamily="34" charset="0"/>
              </a:rPr>
              <a:t>Optimize Pricing &amp; Discount Strategy: </a:t>
            </a:r>
            <a:r>
              <a:rPr lang="en-US" sz="2000" dirty="0">
                <a:solidFill>
                  <a:schemeClr val="accent1"/>
                </a:solidFill>
                <a:latin typeface="Arial" panose="020B0604020202020204" pitchFamily="34" charset="0"/>
                <a:cs typeface="Arial" panose="020B0604020202020204" pitchFamily="34" charset="0"/>
              </a:rPr>
              <a:t>Monitor discount impact carefully to ensure profitability while maintaining competitive pricing.</a:t>
            </a:r>
            <a:endParaRPr lang="en-US" dirty="0"/>
          </a:p>
        </p:txBody>
      </p:sp>
      <p:sp>
        <p:nvSpPr>
          <p:cNvPr id="3" name="TextBox 2">
            <a:extLst>
              <a:ext uri="{FF2B5EF4-FFF2-40B4-BE49-F238E27FC236}">
                <a16:creationId xmlns:a16="http://schemas.microsoft.com/office/drawing/2014/main" id="{2476D29E-5100-3D2A-1B8A-0D002FBCFCAC}"/>
              </a:ext>
            </a:extLst>
          </p:cNvPr>
          <p:cNvSpPr txBox="1"/>
          <p:nvPr/>
        </p:nvSpPr>
        <p:spPr>
          <a:xfrm>
            <a:off x="649995" y="3745735"/>
            <a:ext cx="8967730" cy="2215991"/>
          </a:xfrm>
          <a:prstGeom prst="rect">
            <a:avLst/>
          </a:prstGeom>
          <a:noFill/>
        </p:spPr>
        <p:txBody>
          <a:bodyPr wrap="square" rtlCol="0">
            <a:spAutoFit/>
          </a:bodyPr>
          <a:lstStyle/>
          <a:p>
            <a:pPr>
              <a:spcBef>
                <a:spcPts val="1200"/>
              </a:spcBef>
            </a:pPr>
            <a:r>
              <a:rPr lang="en-US" sz="2800" dirty="0">
                <a:solidFill>
                  <a:schemeClr val="accent1"/>
                </a:solidFill>
                <a:latin typeface="Arial Black" panose="020B0A04020102020204" pitchFamily="34" charset="0"/>
              </a:rPr>
              <a:t>Conclusion:</a:t>
            </a:r>
          </a:p>
          <a:p>
            <a:pPr algn="just">
              <a:spcBef>
                <a:spcPts val="1200"/>
              </a:spcBef>
            </a:pPr>
            <a:r>
              <a:rPr lang="en-US" sz="2000" dirty="0">
                <a:solidFill>
                  <a:schemeClr val="accent1"/>
                </a:solidFill>
                <a:latin typeface="Arial" panose="020B0604020202020204" pitchFamily="34" charset="0"/>
                <a:cs typeface="Arial" panose="020B0604020202020204" pitchFamily="34" charset="0"/>
              </a:rPr>
              <a:t>This project successfully transformed uncleaned grocery sales data into a structured and interactive Power BI dashboard. By cleaning and modeling the data, meaningful insights were generated on sales performance, store comparison, and product trends. The dashboard enables better understanding of business performance and supports data-driven decision-making.</a:t>
            </a:r>
          </a:p>
        </p:txBody>
      </p:sp>
    </p:spTree>
    <p:extLst>
      <p:ext uri="{BB962C8B-B14F-4D97-AF65-F5344CB8AC3E}">
        <p14:creationId xmlns:p14="http://schemas.microsoft.com/office/powerpoint/2010/main" val="581672545"/>
      </p:ext>
    </p:extLst>
  </p:cSld>
  <p:clrMapOvr>
    <a:masterClrMapping/>
  </p:clrMapOvr>
</p:sld>
</file>

<file path=ppt/theme/theme1.xml><?xml version="1.0" encoding="utf-8"?>
<a:theme xmlns:a="http://schemas.openxmlformats.org/drawingml/2006/main" name="Facet">
  <a:themeElements>
    <a:clrScheme name="Custom 1">
      <a:dk1>
        <a:sysClr val="windowText" lastClr="000000"/>
      </a:dk1>
      <a:lt1>
        <a:sysClr val="window" lastClr="FFFFFF"/>
      </a:lt1>
      <a:dk2>
        <a:srgbClr val="3B3059"/>
      </a:dk2>
      <a:lt2>
        <a:srgbClr val="EBEBEB"/>
      </a:lt2>
      <a:accent1>
        <a:srgbClr val="590832"/>
      </a:accent1>
      <a:accent2>
        <a:srgbClr val="860C4C"/>
      </a:accent2>
      <a:accent3>
        <a:srgbClr val="EE52A4"/>
      </a:accent3>
      <a:accent4>
        <a:srgbClr val="F48CC2"/>
      </a:accent4>
      <a:accent5>
        <a:srgbClr val="F9C5E0"/>
      </a:accent5>
      <a:accent6>
        <a:srgbClr val="B31166"/>
      </a:accent6>
      <a:hlink>
        <a:srgbClr val="8F8F8F"/>
      </a:hlink>
      <a:folHlink>
        <a:srgbClr val="A5A5A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613</TotalTime>
  <Words>1046</Words>
  <Application>Microsoft Office PowerPoint</Application>
  <PresentationFormat>Widescreen</PresentationFormat>
  <Paragraphs>66</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Trebuchet MS</vt:lpstr>
      <vt:lpstr>Wingdings</vt:lpstr>
      <vt:lpstr>Wingdings 3</vt:lpstr>
      <vt:lpstr>Facet</vt:lpstr>
      <vt:lpstr>Grocery Sales Data Analysis Using Excel and Power BI</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LISSMARIYA JOY</dc:creator>
  <cp:lastModifiedBy>LISSMARIYA JOY</cp:lastModifiedBy>
  <cp:revision>7</cp:revision>
  <dcterms:created xsi:type="dcterms:W3CDTF">2026-03-01T10:01:36Z</dcterms:created>
  <dcterms:modified xsi:type="dcterms:W3CDTF">2026-03-03T15:52:10Z</dcterms:modified>
</cp:coreProperties>
</file>